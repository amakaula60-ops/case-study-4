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58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1"/>
          <c:cat>
            <c:strRef>
              <c:f>Sheet1!$A$2:$A$37</c:f>
              <c:strCache>
                <c:ptCount val="36"/>
                <c:pt idx="0">
                  <c:v>2013-12</c:v>
                </c:pt>
                <c:pt idx="1">
                  <c:v>2014-01</c:v>
                </c:pt>
                <c:pt idx="2">
                  <c:v>2014-02</c:v>
                </c:pt>
                <c:pt idx="3">
                  <c:v>2014-03</c:v>
                </c:pt>
                <c:pt idx="4">
                  <c:v>2014-04</c:v>
                </c:pt>
                <c:pt idx="5">
                  <c:v>2014-05</c:v>
                </c:pt>
                <c:pt idx="6">
                  <c:v>2014-06</c:v>
                </c:pt>
                <c:pt idx="7">
                  <c:v>2014-07</c:v>
                </c:pt>
                <c:pt idx="8">
                  <c:v>2014-08</c:v>
                </c:pt>
                <c:pt idx="9">
                  <c:v>2014-09</c:v>
                </c:pt>
                <c:pt idx="10">
                  <c:v>2014-10</c:v>
                </c:pt>
                <c:pt idx="11">
                  <c:v>2014-11</c:v>
                </c:pt>
                <c:pt idx="12">
                  <c:v>2014-12</c:v>
                </c:pt>
                <c:pt idx="13">
                  <c:v>2015-01</c:v>
                </c:pt>
                <c:pt idx="14">
                  <c:v>2015-02</c:v>
                </c:pt>
                <c:pt idx="15">
                  <c:v>2015-03</c:v>
                </c:pt>
                <c:pt idx="16">
                  <c:v>2015-04</c:v>
                </c:pt>
                <c:pt idx="17">
                  <c:v>2015-05</c:v>
                </c:pt>
                <c:pt idx="18">
                  <c:v>2015-06</c:v>
                </c:pt>
                <c:pt idx="19">
                  <c:v>2015-07</c:v>
                </c:pt>
                <c:pt idx="20">
                  <c:v>2015-08</c:v>
                </c:pt>
                <c:pt idx="21">
                  <c:v>2015-09</c:v>
                </c:pt>
                <c:pt idx="22">
                  <c:v>2015-10</c:v>
                </c:pt>
                <c:pt idx="23">
                  <c:v>2015-11</c:v>
                </c:pt>
                <c:pt idx="24">
                  <c:v>2015-12</c:v>
                </c:pt>
                <c:pt idx="25">
                  <c:v>2016-01</c:v>
                </c:pt>
                <c:pt idx="26">
                  <c:v>2016-02</c:v>
                </c:pt>
                <c:pt idx="27">
                  <c:v>2016-03</c:v>
                </c:pt>
                <c:pt idx="28">
                  <c:v>2016-04</c:v>
                </c:pt>
                <c:pt idx="29">
                  <c:v>2016-05</c:v>
                </c:pt>
                <c:pt idx="30">
                  <c:v>2016-06</c:v>
                </c:pt>
                <c:pt idx="31">
                  <c:v>2016-07</c:v>
                </c:pt>
                <c:pt idx="32">
                  <c:v>2016-08</c:v>
                </c:pt>
                <c:pt idx="33">
                  <c:v>2016-09</c:v>
                </c:pt>
                <c:pt idx="34">
                  <c:v>2016-10</c:v>
                </c:pt>
                <c:pt idx="35">
                  <c:v>2016-11</c:v>
                </c:pt>
              </c:strCache>
            </c: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524283.45250000001</c:v>
                </c:pt>
                <c:pt idx="1">
                  <c:v>4008180.48887</c:v>
                </c:pt>
                <c:pt idx="2">
                  <c:v>5780487.1753599998</c:v>
                </c:pt>
                <c:pt idx="3">
                  <c:v>8279517.1759399995</c:v>
                </c:pt>
                <c:pt idx="4">
                  <c:v>6435743.2740099998</c:v>
                </c:pt>
                <c:pt idx="5">
                  <c:v>7694906.1533899996</c:v>
                </c:pt>
                <c:pt idx="6">
                  <c:v>6456943.6467000004</c:v>
                </c:pt>
                <c:pt idx="7">
                  <c:v>4933710.8007300003</c:v>
                </c:pt>
                <c:pt idx="8">
                  <c:v>10010378.287799999</c:v>
                </c:pt>
                <c:pt idx="9">
                  <c:v>7643452.6855800003</c:v>
                </c:pt>
                <c:pt idx="10">
                  <c:v>5924683.3811600003</c:v>
                </c:pt>
                <c:pt idx="11">
                  <c:v>2631353.3430300001</c:v>
                </c:pt>
                <c:pt idx="12">
                  <c:v>5615619.2988600004</c:v>
                </c:pt>
                <c:pt idx="13">
                  <c:v>3696191.5080200001</c:v>
                </c:pt>
                <c:pt idx="14">
                  <c:v>4901504.8930200003</c:v>
                </c:pt>
                <c:pt idx="15">
                  <c:v>5269353.1525299996</c:v>
                </c:pt>
                <c:pt idx="16">
                  <c:v>5963993.9677099995</c:v>
                </c:pt>
                <c:pt idx="17">
                  <c:v>8384367.2411700003</c:v>
                </c:pt>
                <c:pt idx="18">
                  <c:v>5332108.3232000005</c:v>
                </c:pt>
                <c:pt idx="19">
                  <c:v>3677692.3940099999</c:v>
                </c:pt>
                <c:pt idx="20">
                  <c:v>3934668.4082800001</c:v>
                </c:pt>
                <c:pt idx="21">
                  <c:v>4669899.8586900001</c:v>
                </c:pt>
                <c:pt idx="22">
                  <c:v>4828975.07969</c:v>
                </c:pt>
                <c:pt idx="23">
                  <c:v>6538148.88344</c:v>
                </c:pt>
                <c:pt idx="24">
                  <c:v>6820689.6777900001</c:v>
                </c:pt>
                <c:pt idx="25">
                  <c:v>5403090.5094699999</c:v>
                </c:pt>
                <c:pt idx="26">
                  <c:v>4891882.30803</c:v>
                </c:pt>
                <c:pt idx="27">
                  <c:v>2951856.0056699999</c:v>
                </c:pt>
                <c:pt idx="28">
                  <c:v>6656880.1760200001</c:v>
                </c:pt>
                <c:pt idx="29">
                  <c:v>5170231.85506</c:v>
                </c:pt>
                <c:pt idx="30">
                  <c:v>6771134.9383199997</c:v>
                </c:pt>
                <c:pt idx="31">
                  <c:v>3324825.4316400001</c:v>
                </c:pt>
                <c:pt idx="32">
                  <c:v>4343329.4138500001</c:v>
                </c:pt>
                <c:pt idx="33">
                  <c:v>3259542.50177</c:v>
                </c:pt>
                <c:pt idx="34">
                  <c:v>2329172.7028399999</c:v>
                </c:pt>
                <c:pt idx="35">
                  <c:v>1851029.8627299999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AC-4AB4-BC6E-4D22E0189D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Of Sales</c:v>
                </c:pt>
              </c:strCache>
            </c:strRef>
          </c:tx>
          <c:invertIfNegative val="1"/>
          <c:cat>
            <c:strRef>
              <c:f>Sheet1!$A$2:$A$37</c:f>
              <c:strCache>
                <c:ptCount val="36"/>
                <c:pt idx="0">
                  <c:v>2013-12</c:v>
                </c:pt>
                <c:pt idx="1">
                  <c:v>2014-01</c:v>
                </c:pt>
                <c:pt idx="2">
                  <c:v>2014-02</c:v>
                </c:pt>
                <c:pt idx="3">
                  <c:v>2014-03</c:v>
                </c:pt>
                <c:pt idx="4">
                  <c:v>2014-04</c:v>
                </c:pt>
                <c:pt idx="5">
                  <c:v>2014-05</c:v>
                </c:pt>
                <c:pt idx="6">
                  <c:v>2014-06</c:v>
                </c:pt>
                <c:pt idx="7">
                  <c:v>2014-07</c:v>
                </c:pt>
                <c:pt idx="8">
                  <c:v>2014-08</c:v>
                </c:pt>
                <c:pt idx="9">
                  <c:v>2014-09</c:v>
                </c:pt>
                <c:pt idx="10">
                  <c:v>2014-10</c:v>
                </c:pt>
                <c:pt idx="11">
                  <c:v>2014-11</c:v>
                </c:pt>
                <c:pt idx="12">
                  <c:v>2014-12</c:v>
                </c:pt>
                <c:pt idx="13">
                  <c:v>2015-01</c:v>
                </c:pt>
                <c:pt idx="14">
                  <c:v>2015-02</c:v>
                </c:pt>
                <c:pt idx="15">
                  <c:v>2015-03</c:v>
                </c:pt>
                <c:pt idx="16">
                  <c:v>2015-04</c:v>
                </c:pt>
                <c:pt idx="17">
                  <c:v>2015-05</c:v>
                </c:pt>
                <c:pt idx="18">
                  <c:v>2015-06</c:v>
                </c:pt>
                <c:pt idx="19">
                  <c:v>2015-07</c:v>
                </c:pt>
                <c:pt idx="20">
                  <c:v>2015-08</c:v>
                </c:pt>
                <c:pt idx="21">
                  <c:v>2015-09</c:v>
                </c:pt>
                <c:pt idx="22">
                  <c:v>2015-10</c:v>
                </c:pt>
                <c:pt idx="23">
                  <c:v>2015-11</c:v>
                </c:pt>
                <c:pt idx="24">
                  <c:v>2015-12</c:v>
                </c:pt>
                <c:pt idx="25">
                  <c:v>2016-01</c:v>
                </c:pt>
                <c:pt idx="26">
                  <c:v>2016-02</c:v>
                </c:pt>
                <c:pt idx="27">
                  <c:v>2016-03</c:v>
                </c:pt>
                <c:pt idx="28">
                  <c:v>2016-04</c:v>
                </c:pt>
                <c:pt idx="29">
                  <c:v>2016-05</c:v>
                </c:pt>
                <c:pt idx="30">
                  <c:v>2016-06</c:v>
                </c:pt>
                <c:pt idx="31">
                  <c:v>2016-07</c:v>
                </c:pt>
                <c:pt idx="32">
                  <c:v>2016-08</c:v>
                </c:pt>
                <c:pt idx="33">
                  <c:v>2016-09</c:v>
                </c:pt>
                <c:pt idx="34">
                  <c:v>2016-10</c:v>
                </c:pt>
                <c:pt idx="35">
                  <c:v>2016-11</c:v>
                </c:pt>
              </c:strCache>
            </c:strRef>
          </c:cat>
          <c:val>
            <c:numRef>
              <c:f>Sheet1!$C$2:$C$37</c:f>
              <c:numCache>
                <c:formatCode>General</c:formatCode>
                <c:ptCount val="36"/>
                <c:pt idx="0">
                  <c:v>537065.7415</c:v>
                </c:pt>
                <c:pt idx="1">
                  <c:v>3995719.84351</c:v>
                </c:pt>
                <c:pt idx="2">
                  <c:v>5913478.5608299999</c:v>
                </c:pt>
                <c:pt idx="3">
                  <c:v>8415654.0192499999</c:v>
                </c:pt>
                <c:pt idx="4">
                  <c:v>6479643.6251300005</c:v>
                </c:pt>
                <c:pt idx="5">
                  <c:v>8017240.4171599997</c:v>
                </c:pt>
                <c:pt idx="6">
                  <c:v>6645843.6568999998</c:v>
                </c:pt>
                <c:pt idx="7">
                  <c:v>5004894.9018700002</c:v>
                </c:pt>
                <c:pt idx="8">
                  <c:v>10524432.42465</c:v>
                </c:pt>
                <c:pt idx="9">
                  <c:v>8193560.0392700005</c:v>
                </c:pt>
                <c:pt idx="10">
                  <c:v>6038461.3173200004</c:v>
                </c:pt>
                <c:pt idx="11">
                  <c:v>2517124.8354500001</c:v>
                </c:pt>
                <c:pt idx="12">
                  <c:v>5934796.0593600003</c:v>
                </c:pt>
                <c:pt idx="13">
                  <c:v>3851260.46655</c:v>
                </c:pt>
                <c:pt idx="14">
                  <c:v>5151756.26786</c:v>
                </c:pt>
                <c:pt idx="15">
                  <c:v>5599630.7203500001</c:v>
                </c:pt>
                <c:pt idx="16">
                  <c:v>6286673.6644400004</c:v>
                </c:pt>
                <c:pt idx="17">
                  <c:v>8973701.8985900003</c:v>
                </c:pt>
                <c:pt idx="18">
                  <c:v>5520925.3688500002</c:v>
                </c:pt>
                <c:pt idx="19">
                  <c:v>3829188.5650900002</c:v>
                </c:pt>
                <c:pt idx="20">
                  <c:v>4210927.3350600004</c:v>
                </c:pt>
                <c:pt idx="21">
                  <c:v>5024494.6950000003</c:v>
                </c:pt>
                <c:pt idx="22">
                  <c:v>5175494.0774299996</c:v>
                </c:pt>
                <c:pt idx="23">
                  <c:v>7138833.4545799997</c:v>
                </c:pt>
                <c:pt idx="24">
                  <c:v>7154317.3203999996</c:v>
                </c:pt>
                <c:pt idx="25">
                  <c:v>5657342.7152300002</c:v>
                </c:pt>
                <c:pt idx="26">
                  <c:v>4889303.6436200002</c:v>
                </c:pt>
                <c:pt idx="27">
                  <c:v>2917801.4912899998</c:v>
                </c:pt>
                <c:pt idx="28">
                  <c:v>7127731.9053100003</c:v>
                </c:pt>
                <c:pt idx="29">
                  <c:v>5338394.6319699995</c:v>
                </c:pt>
                <c:pt idx="30">
                  <c:v>7168349.6312199999</c:v>
                </c:pt>
                <c:pt idx="31">
                  <c:v>3268397.27251</c:v>
                </c:pt>
                <c:pt idx="32">
                  <c:v>4479787.6551599996</c:v>
                </c:pt>
                <c:pt idx="33">
                  <c:v>3210197.2874699999</c:v>
                </c:pt>
                <c:pt idx="34">
                  <c:v>2109211.0578299998</c:v>
                </c:pt>
                <c:pt idx="35">
                  <c:v>1724472.87827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AC-4AB4-BC6E-4D22E0189D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83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52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3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47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51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98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55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978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57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018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72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54243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641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74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5758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17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99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3001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Case Study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Insights and Trends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Total Sales: </a:t>
            </a:r>
            <a:r>
              <a:rPr lang="en-GB" dirty="0"/>
              <a:t>R</a:t>
            </a:r>
            <a:r>
              <a:rPr dirty="0"/>
              <a:t>186,909,828.26</a:t>
            </a:r>
          </a:p>
          <a:p>
            <a:r>
              <a:rPr dirty="0"/>
              <a:t>Total Cost of Sales: </a:t>
            </a:r>
            <a:r>
              <a:rPr lang="en-GB" dirty="0"/>
              <a:t>R</a:t>
            </a:r>
            <a:r>
              <a:rPr dirty="0"/>
              <a:t>194,026,109.45</a:t>
            </a:r>
          </a:p>
          <a:p>
            <a:r>
              <a:rPr dirty="0"/>
              <a:t>Total Quantity Sold: 5,279,872</a:t>
            </a:r>
          </a:p>
          <a:p>
            <a:r>
              <a:rPr dirty="0"/>
              <a:t>Total Profit: </a:t>
            </a:r>
            <a:r>
              <a:rPr lang="en-ZA" dirty="0"/>
              <a:t>R-7</a:t>
            </a:r>
            <a:r>
              <a:rPr dirty="0"/>
              <a:t>,116,281.19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vs Cost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36</Words>
  <Application>Microsoft Office PowerPoint</Application>
  <PresentationFormat>On-screen Show (4:3)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Century Gothic</vt:lpstr>
      <vt:lpstr>Wingdings 3</vt:lpstr>
      <vt:lpstr>Ion</vt:lpstr>
      <vt:lpstr>Sales Case Study Summary</vt:lpstr>
      <vt:lpstr>Key Insights</vt:lpstr>
      <vt:lpstr>Monthly Sales vs Cost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Noxolo Buka</cp:lastModifiedBy>
  <cp:revision>2</cp:revision>
  <dcterms:created xsi:type="dcterms:W3CDTF">2013-01-27T09:14:16Z</dcterms:created>
  <dcterms:modified xsi:type="dcterms:W3CDTF">2025-11-25T21:26:55Z</dcterms:modified>
  <cp:category/>
</cp:coreProperties>
</file>